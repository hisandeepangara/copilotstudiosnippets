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13"/>
  </p:notesMasterIdLst>
  <p:sldIdLst>
    <p:sldId id="2147483638" r:id="rId2"/>
    <p:sldId id="2147483640" r:id="rId3"/>
    <p:sldId id="2147483639" r:id="rId4"/>
    <p:sldId id="2147483637" r:id="rId5"/>
    <p:sldId id="2147483636" r:id="rId6"/>
    <p:sldId id="264" r:id="rId7"/>
    <p:sldId id="2147483641" r:id="rId8"/>
    <p:sldId id="2147483644" r:id="rId9"/>
    <p:sldId id="2147483633" r:id="rId10"/>
    <p:sldId id="2147483643" r:id="rId11"/>
    <p:sldId id="21474836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182AC-189D-4B85-B523-108F4B2C1340}" v="2" dt="2026-04-21T04:09:31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0557" autoAdjust="0"/>
  </p:normalViewPr>
  <p:slideViewPr>
    <p:cSldViewPr snapToGrid="0">
      <p:cViewPr varScale="1">
        <p:scale>
          <a:sx n="67" d="100"/>
          <a:sy n="67" d="100"/>
        </p:scale>
        <p:origin x="6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Angara (IND)" userId="10e1aef2-7c9a-43ec-9aca-72815575f24c" providerId="ADAL" clId="{8ABC66D3-24B0-4408-A4AF-BD590204AB52}"/>
    <pc:docChg chg="undo custSel addSld delSld modSld sldOrd modMainMaster">
      <pc:chgData name="Sandeep Angara (IND)" userId="10e1aef2-7c9a-43ec-9aca-72815575f24c" providerId="ADAL" clId="{8ABC66D3-24B0-4408-A4AF-BD590204AB52}" dt="2026-04-21T04:09:31.411" v="307"/>
      <pc:docMkLst>
        <pc:docMk/>
      </pc:docMkLst>
      <pc:sldChg chg="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968091236" sldId="264"/>
        </pc:sldMkLst>
      </pc:sldChg>
      <pc:sldChg chg="modSp mod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793305701" sldId="2147483633"/>
        </pc:sldMkLst>
        <pc:spChg chg="mod">
          <ac:chgData name="Sandeep Angara (IND)" userId="10e1aef2-7c9a-43ec-9aca-72815575f24c" providerId="ADAL" clId="{8ABC66D3-24B0-4408-A4AF-BD590204AB52}" dt="2026-04-19T12:49:46.053" v="33" actId="20577"/>
          <ac:spMkLst>
            <pc:docMk/>
            <pc:sldMk cId="793305701" sldId="2147483633"/>
            <ac:spMk id="4" creationId="{6AF8E339-80D3-FFC8-F2B8-2EC777F405B6}"/>
          </ac:spMkLst>
        </pc:spChg>
      </pc:sldChg>
      <pc:sldChg chg="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3058658023" sldId="2147483635"/>
        </pc:sldMkLst>
      </pc:sldChg>
      <pc:sldChg chg="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052903614" sldId="2147483636"/>
        </pc:sldMkLst>
      </pc:sldChg>
      <pc:sldChg chg="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930959518" sldId="2147483637"/>
        </pc:sldMkLst>
      </pc:sldChg>
      <pc:sldChg chg="modSp mod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342680474" sldId="2147483638"/>
        </pc:sldMkLst>
        <pc:spChg chg="mod">
          <ac:chgData name="Sandeep Angara (IND)" userId="10e1aef2-7c9a-43ec-9aca-72815575f24c" providerId="ADAL" clId="{8ABC66D3-24B0-4408-A4AF-BD590204AB52}" dt="2026-04-20T12:22:21.116" v="305" actId="20577"/>
          <ac:spMkLst>
            <pc:docMk/>
            <pc:sldMk cId="1342680474" sldId="2147483638"/>
            <ac:spMk id="7" creationId="{D4557655-6E87-361B-5B79-EB1CAC93F0D7}"/>
          </ac:spMkLst>
        </pc:spChg>
      </pc:sldChg>
      <pc:sldChg chg="modSp mod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965195968" sldId="2147483639"/>
        </pc:sldMkLst>
        <pc:spChg chg="mod">
          <ac:chgData name="Sandeep Angara (IND)" userId="10e1aef2-7c9a-43ec-9aca-72815575f24c" providerId="ADAL" clId="{8ABC66D3-24B0-4408-A4AF-BD590204AB52}" dt="2026-04-19T13:17:10.729" v="54" actId="20577"/>
          <ac:spMkLst>
            <pc:docMk/>
            <pc:sldMk cId="1965195968" sldId="2147483639"/>
            <ac:spMk id="6" creationId="{B2D51127-CF5B-2389-22D6-F03EAEC872CB}"/>
          </ac:spMkLst>
        </pc:spChg>
      </pc:sldChg>
      <pc:sldChg chg="modSp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4176561003" sldId="2147483640"/>
        </pc:sldMkLst>
        <pc:picChg chg="mod">
          <ac:chgData name="Sandeep Angara (IND)" userId="10e1aef2-7c9a-43ec-9aca-72815575f24c" providerId="ADAL" clId="{8ABC66D3-24B0-4408-A4AF-BD590204AB52}" dt="2026-04-19T12:48:18.661" v="0" actId="14826"/>
          <ac:picMkLst>
            <pc:docMk/>
            <pc:sldMk cId="4176561003" sldId="2147483640"/>
            <ac:picMk id="2" creationId="{5731B6A5-2810-C901-750B-28760A4B6A94}"/>
          </ac:picMkLst>
        </pc:picChg>
      </pc:sldChg>
      <pc:sldChg chg="addSp delSp modSp add mod ord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2324617731" sldId="2147483641"/>
        </pc:sldMkLst>
        <pc:spChg chg="mod">
          <ac:chgData name="Sandeep Angara (IND)" userId="10e1aef2-7c9a-43ec-9aca-72815575f24c" providerId="ADAL" clId="{8ABC66D3-24B0-4408-A4AF-BD590204AB52}" dt="2026-04-19T13:17:41.203" v="72" actId="20577"/>
          <ac:spMkLst>
            <pc:docMk/>
            <pc:sldMk cId="2324617731" sldId="2147483641"/>
            <ac:spMk id="2" creationId="{4FFDF278-6A6B-72AA-0AB9-CF59EC0BE1D0}"/>
          </ac:spMkLst>
        </pc:spChg>
        <pc:spChg chg="add mod">
          <ac:chgData name="Sandeep Angara (IND)" userId="10e1aef2-7c9a-43ec-9aca-72815575f24c" providerId="ADAL" clId="{8ABC66D3-24B0-4408-A4AF-BD590204AB52}" dt="2026-04-19T13:31:51.378" v="242" actId="1076"/>
          <ac:spMkLst>
            <pc:docMk/>
            <pc:sldMk cId="2324617731" sldId="2147483641"/>
            <ac:spMk id="12" creationId="{8E51AACC-114C-416D-34F2-751AC99B5C9A}"/>
          </ac:spMkLst>
        </pc:spChg>
        <pc:picChg chg="add mod">
          <ac:chgData name="Sandeep Angara (IND)" userId="10e1aef2-7c9a-43ec-9aca-72815575f24c" providerId="ADAL" clId="{8ABC66D3-24B0-4408-A4AF-BD590204AB52}" dt="2026-04-19T13:31:58.739" v="244" actId="1440"/>
          <ac:picMkLst>
            <pc:docMk/>
            <pc:sldMk cId="2324617731" sldId="2147483641"/>
            <ac:picMk id="14" creationId="{F9931891-6B3A-6FC6-3DEA-89ED6097C915}"/>
          </ac:picMkLst>
        </pc:picChg>
      </pc:sldChg>
      <pc:sldChg chg="addSp delSp modSp add mod modTransition">
        <pc:chgData name="Sandeep Angara (IND)" userId="10e1aef2-7c9a-43ec-9aca-72815575f24c" providerId="ADAL" clId="{8ABC66D3-24B0-4408-A4AF-BD590204AB52}" dt="2026-04-21T04:09:31.411" v="307"/>
        <pc:sldMkLst>
          <pc:docMk/>
          <pc:sldMk cId="1572898398" sldId="2147483643"/>
        </pc:sldMkLst>
        <pc:spChg chg="mod">
          <ac:chgData name="Sandeep Angara (IND)" userId="10e1aef2-7c9a-43ec-9aca-72815575f24c" providerId="ADAL" clId="{8ABC66D3-24B0-4408-A4AF-BD590204AB52}" dt="2026-04-19T13:18:02.795" v="113" actId="20577"/>
          <ac:spMkLst>
            <pc:docMk/>
            <pc:sldMk cId="1572898398" sldId="2147483643"/>
            <ac:spMk id="2" creationId="{84CBCCB5-5AD2-9F7F-A5B0-3DD77DCBF5A6}"/>
          </ac:spMkLst>
        </pc:spChg>
        <pc:picChg chg="add mod modCrop">
          <ac:chgData name="Sandeep Angara (IND)" userId="10e1aef2-7c9a-43ec-9aca-72815575f24c" providerId="ADAL" clId="{8ABC66D3-24B0-4408-A4AF-BD590204AB52}" dt="2026-04-19T13:23:52.508" v="147" actId="1440"/>
          <ac:picMkLst>
            <pc:docMk/>
            <pc:sldMk cId="1572898398" sldId="2147483643"/>
            <ac:picMk id="13" creationId="{A5BDD5FB-694C-D20F-1F65-32F1B54A44B8}"/>
          </ac:picMkLst>
        </pc:picChg>
        <pc:picChg chg="add mod modCrop">
          <ac:chgData name="Sandeep Angara (IND)" userId="10e1aef2-7c9a-43ec-9aca-72815575f24c" providerId="ADAL" clId="{8ABC66D3-24B0-4408-A4AF-BD590204AB52}" dt="2026-04-19T13:23:59.706" v="149" actId="1440"/>
          <ac:picMkLst>
            <pc:docMk/>
            <pc:sldMk cId="1572898398" sldId="2147483643"/>
            <ac:picMk id="14" creationId="{0D0C5CF3-7239-3FED-0650-A01177C59301}"/>
          </ac:picMkLst>
        </pc:picChg>
        <pc:picChg chg="add mod modCrop">
          <ac:chgData name="Sandeep Angara (IND)" userId="10e1aef2-7c9a-43ec-9aca-72815575f24c" providerId="ADAL" clId="{8ABC66D3-24B0-4408-A4AF-BD590204AB52}" dt="2026-04-19T13:23:56.856" v="148" actId="1440"/>
          <ac:picMkLst>
            <pc:docMk/>
            <pc:sldMk cId="1572898398" sldId="2147483643"/>
            <ac:picMk id="15" creationId="{32B78C8A-2DB6-0552-25B6-830F1142AB0E}"/>
          </ac:picMkLst>
        </pc:picChg>
      </pc:sldChg>
      <pc:sldChg chg="addSp delSp modSp add mod modTransition modShow">
        <pc:chgData name="Sandeep Angara (IND)" userId="10e1aef2-7c9a-43ec-9aca-72815575f24c" providerId="ADAL" clId="{8ABC66D3-24B0-4408-A4AF-BD590204AB52}" dt="2026-04-21T04:09:31.411" v="307"/>
        <pc:sldMkLst>
          <pc:docMk/>
          <pc:sldMk cId="1078582724" sldId="2147483644"/>
        </pc:sldMkLst>
        <pc:spChg chg="mod">
          <ac:chgData name="Sandeep Angara (IND)" userId="10e1aef2-7c9a-43ec-9aca-72815575f24c" providerId="ADAL" clId="{8ABC66D3-24B0-4408-A4AF-BD590204AB52}" dt="2026-04-19T13:36:09.449" v="302" actId="20577"/>
          <ac:spMkLst>
            <pc:docMk/>
            <pc:sldMk cId="1078582724" sldId="2147483644"/>
            <ac:spMk id="2" creationId="{90D1EB2E-7213-C043-078A-7B43C1FF6BCB}"/>
          </ac:spMkLst>
        </pc:spChg>
        <pc:spChg chg="add del mod">
          <ac:chgData name="Sandeep Angara (IND)" userId="10e1aef2-7c9a-43ec-9aca-72815575f24c" providerId="ADAL" clId="{8ABC66D3-24B0-4408-A4AF-BD590204AB52}" dt="2026-04-19T13:36:16.993" v="304" actId="20577"/>
          <ac:spMkLst>
            <pc:docMk/>
            <pc:sldMk cId="1078582724" sldId="2147483644"/>
            <ac:spMk id="5" creationId="{C289C1ED-4D6B-BDE2-843D-520C1C360993}"/>
          </ac:spMkLst>
        </pc:spChg>
        <pc:picChg chg="add mod">
          <ac:chgData name="Sandeep Angara (IND)" userId="10e1aef2-7c9a-43ec-9aca-72815575f24c" providerId="ADAL" clId="{8ABC66D3-24B0-4408-A4AF-BD590204AB52}" dt="2026-04-19T13:34:23.303" v="255" actId="1076"/>
          <ac:picMkLst>
            <pc:docMk/>
            <pc:sldMk cId="1078582724" sldId="2147483644"/>
            <ac:picMk id="4" creationId="{55872EC6-0AEF-EBE7-DF96-2C6FA1C20A19}"/>
          </ac:picMkLst>
        </pc:picChg>
      </pc:sldChg>
      <pc:sldMasterChg chg="modTransition modSldLayout">
        <pc:chgData name="Sandeep Angara (IND)" userId="10e1aef2-7c9a-43ec-9aca-72815575f24c" providerId="ADAL" clId="{8ABC66D3-24B0-4408-A4AF-BD590204AB52}" dt="2026-04-21T04:09:31.411" v="307"/>
        <pc:sldMasterMkLst>
          <pc:docMk/>
          <pc:sldMasterMk cId="3561888533" sldId="2147483691"/>
        </pc:sldMasterMkLst>
        <pc:sldLayoutChg chg="modTransition">
          <pc:chgData name="Sandeep Angara (IND)" userId="10e1aef2-7c9a-43ec-9aca-72815575f24c" providerId="ADAL" clId="{8ABC66D3-24B0-4408-A4AF-BD590204AB52}" dt="2026-04-21T04:09:31.411" v="307"/>
          <pc:sldLayoutMkLst>
            <pc:docMk/>
            <pc:sldMasterMk cId="3561888533" sldId="2147483691"/>
            <pc:sldLayoutMk cId="3746501877" sldId="214748369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CFBA2-80EA-4413-9CD8-D5013C30BFB1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404D3-3F1F-4E0D-A05F-8B25B0E94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14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Generative orchestration means the agent uses AI to dynamically decide how to answer a question by combining its built-in language skills with information from your added knowledge sources.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user asks a question, the agent: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 the question using AI.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ask users for missing information by generating questions on the fly.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Selects the most relevant knowledge sources.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Searches those sources for answers.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 a natural, helpful response using the information it found.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404D3-3F1F-4E0D-A05F-8B25B0E941A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55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599A-3593-E847-2330-79DF1D30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F9108-F030-93BD-7E18-4668A2DCC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1CAED-0034-715F-3640-78B84E31E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EFCAE3D-2114-C3B2-7CF4-8A8C4F57477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3F47-5688-7169-742B-454FD755E4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D322FD-F3B5-8ABB-214B-47C9978CDCF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 9:38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F8160-F200-20BA-2A37-EC8A7208B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561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42AF-81E6-B272-E6F2-EDF7CBD4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71678-4ACB-416D-96D0-15FC76C7A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4FFA5-46A3-9CC7-C8AB-05F41DC5E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43C4635-623F-CFF4-1A7B-F11C62F2004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0DD64-72AE-A263-11BC-3F8C3BE386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5C7FF1-1613-59D6-9308-BA655833057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 9:38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A0DA3-8105-9C8E-36A2-5ED3FD5B7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321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 9:38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968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2F4C5-E4D5-92D2-00B8-CE557649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35CC7-5563-C6C0-727A-55BE58811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8EBD8-E5DD-15CC-44B5-593F891A2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EFE1F60-2E9C-D53C-7486-73C58593A11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6937-B0D3-9645-9378-CE1AC1F79E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808DFD-7EEE-ADA6-3043-1AEE28BFB7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4/21/2026 9:38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8398C-8727-2F36-5B85-93CE77475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90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501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88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A042-97B5-8AD4-EBA6-6A0FFAF1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4557655-6E87-361B-5B79-EB1CAC93F0D7}"/>
              </a:ext>
            </a:extLst>
          </p:cNvPr>
          <p:cNvSpPr txBox="1">
            <a:spLocks/>
          </p:cNvSpPr>
          <p:nvPr/>
        </p:nvSpPr>
        <p:spPr>
          <a:xfrm>
            <a:off x="1524000" y="1767007"/>
            <a:ext cx="9144000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5400"/>
              <a:t>Multi-Agent </a:t>
            </a:r>
            <a:r>
              <a:rPr lang="en-US" sz="5400" dirty="0"/>
              <a:t>Orchestration in Copilot Studio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BC723BA-31A5-A3B4-E474-B28A9481B70C}"/>
              </a:ext>
            </a:extLst>
          </p:cNvPr>
          <p:cNvSpPr txBox="1">
            <a:spLocks/>
          </p:cNvSpPr>
          <p:nvPr/>
        </p:nvSpPr>
        <p:spPr>
          <a:xfrm>
            <a:off x="1524000" y="3636416"/>
            <a:ext cx="9144000" cy="924992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Working with Connected Agents and Child Agents</a:t>
            </a:r>
            <a:endParaRPr lang="en-IN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80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0CDD-420D-DC11-EEF9-6FD16D9A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5731B6A5-2810-C901-750B-28760A4B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723" y="1368657"/>
            <a:ext cx="3430534" cy="3430534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1B9388-1113-0373-8601-F13C8B857C71}"/>
              </a:ext>
            </a:extLst>
          </p:cNvPr>
          <p:cNvSpPr txBox="1"/>
          <p:nvPr/>
        </p:nvSpPr>
        <p:spPr>
          <a:xfrm>
            <a:off x="4814596" y="1895253"/>
            <a:ext cx="6548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SANDEEP ANGARA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A593A-292D-960F-F78A-E95155DE87EF}"/>
              </a:ext>
            </a:extLst>
          </p:cNvPr>
          <p:cNvSpPr txBox="1"/>
          <p:nvPr/>
        </p:nvSpPr>
        <p:spPr>
          <a:xfrm>
            <a:off x="4905912" y="2862273"/>
            <a:ext cx="557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Senior Specialist, Protiviti India Member Firm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0F09AA-F1BA-8FA4-3F62-110CE5C8A912}"/>
              </a:ext>
            </a:extLst>
          </p:cNvPr>
          <p:cNvSpPr/>
          <p:nvPr/>
        </p:nvSpPr>
        <p:spPr>
          <a:xfrm>
            <a:off x="9243847" y="3514084"/>
            <a:ext cx="1632155" cy="450990"/>
          </a:xfrm>
          <a:prstGeom prst="round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Power Apps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1A765C-78D6-9035-1CA5-9F24E9A9B355}"/>
              </a:ext>
            </a:extLst>
          </p:cNvPr>
          <p:cNvSpPr/>
          <p:nvPr/>
        </p:nvSpPr>
        <p:spPr>
          <a:xfrm>
            <a:off x="4905912" y="3529937"/>
            <a:ext cx="1986550" cy="448056"/>
          </a:xfrm>
          <a:prstGeom prst="roundRect">
            <a:avLst/>
          </a:prstGeom>
          <a:noFill/>
          <a:ln w="19050">
            <a:solidFill>
              <a:srgbClr val="DE5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Copilot Studio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FA1776-E743-0984-8F01-027BCF2EB06D}"/>
              </a:ext>
            </a:extLst>
          </p:cNvPr>
          <p:cNvSpPr/>
          <p:nvPr/>
        </p:nvSpPr>
        <p:spPr>
          <a:xfrm>
            <a:off x="7020585" y="3513541"/>
            <a:ext cx="2095139" cy="448056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Power Automate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95F629-7332-975C-8E2C-4518FD6F14DE}"/>
              </a:ext>
            </a:extLst>
          </p:cNvPr>
          <p:cNvSpPr/>
          <p:nvPr/>
        </p:nvSpPr>
        <p:spPr>
          <a:xfrm>
            <a:off x="7156595" y="4155587"/>
            <a:ext cx="1636776" cy="448056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464158-F6E6-6F90-F5A7-387D36879C75}"/>
              </a:ext>
            </a:extLst>
          </p:cNvPr>
          <p:cNvSpPr/>
          <p:nvPr/>
        </p:nvSpPr>
        <p:spPr>
          <a:xfrm>
            <a:off x="8929381" y="4151292"/>
            <a:ext cx="2241755" cy="448056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Web Technologies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8F128-2103-9268-15D1-D8115CCED36F}"/>
              </a:ext>
            </a:extLst>
          </p:cNvPr>
          <p:cNvSpPr txBox="1"/>
          <p:nvPr/>
        </p:nvSpPr>
        <p:spPr>
          <a:xfrm>
            <a:off x="261658" y="5004571"/>
            <a:ext cx="272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sandeep-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angara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2FAB6-F487-9FAD-D38F-CAB8C3BC4A1A}"/>
              </a:ext>
            </a:extLst>
          </p:cNvPr>
          <p:cNvSpPr txBox="1"/>
          <p:nvPr/>
        </p:nvSpPr>
        <p:spPr>
          <a:xfrm>
            <a:off x="3405474" y="5004571"/>
            <a:ext cx="294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hisandeepangara.github.io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188E165A-8C4D-3DAB-AE6C-BF9C53584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68" y="5077270"/>
            <a:ext cx="253181" cy="25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World wide web - Free web icons">
            <a:extLst>
              <a:ext uri="{FF2B5EF4-FFF2-40B4-BE49-F238E27FC236}">
                <a16:creationId xmlns:a16="http://schemas.microsoft.com/office/drawing/2014/main" id="{E96DAA40-EF45-1BA6-5FE8-7EFA113E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254" y="5048127"/>
            <a:ext cx="282220" cy="28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F89B78-A5EB-9F1B-7534-25E02ED1DCD9}"/>
              </a:ext>
            </a:extLst>
          </p:cNvPr>
          <p:cNvSpPr/>
          <p:nvPr/>
        </p:nvSpPr>
        <p:spPr>
          <a:xfrm>
            <a:off x="4925446" y="4155587"/>
            <a:ext cx="2095139" cy="448056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Foundry</a:t>
            </a:r>
          </a:p>
        </p:txBody>
      </p:sp>
    </p:spTree>
    <p:extLst>
      <p:ext uri="{BB962C8B-B14F-4D97-AF65-F5344CB8AC3E}">
        <p14:creationId xmlns:p14="http://schemas.microsoft.com/office/powerpoint/2010/main" val="4176561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C4C3-A71D-587C-F60F-258E50AC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D6CFB1-E008-A787-4AF7-100C9BFEC427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IN" dirty="0"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D51127-CF5B-2389-22D6-F03EAEC872C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" panose="020B0502040204020203" pitchFamily="34" charset="0"/>
              </a:rPr>
              <a:t>What is Orchestration in agents</a:t>
            </a:r>
          </a:p>
          <a:p>
            <a:r>
              <a:rPr lang="en-US" dirty="0">
                <a:latin typeface="Segoe UI" panose="020B0502040204020203" pitchFamily="34" charset="0"/>
              </a:rPr>
              <a:t>Multi-Agent Orchestration</a:t>
            </a:r>
          </a:p>
          <a:p>
            <a:r>
              <a:rPr lang="en-US" dirty="0">
                <a:latin typeface="Segoe UI" panose="020B0502040204020203" pitchFamily="34" charset="0"/>
              </a:rPr>
              <a:t>Child Agents</a:t>
            </a:r>
          </a:p>
          <a:p>
            <a:r>
              <a:rPr lang="en-US" dirty="0">
                <a:latin typeface="Segoe UI" panose="020B0502040204020203" pitchFamily="34" charset="0"/>
              </a:rPr>
              <a:t>Connected Agents</a:t>
            </a:r>
          </a:p>
          <a:p>
            <a:r>
              <a:rPr lang="en-US" dirty="0">
                <a:latin typeface="Segoe UI" panose="020B0502040204020203" pitchFamily="34" charset="0"/>
              </a:rPr>
              <a:t>Multi-agent patterns</a:t>
            </a:r>
          </a:p>
          <a:p>
            <a:r>
              <a:rPr lang="en-US" dirty="0">
                <a:latin typeface="Segoe UI" panose="020B0502040204020203" pitchFamily="34" charset="0"/>
              </a:rPr>
              <a:t>Demo</a:t>
            </a:r>
          </a:p>
          <a:p>
            <a:endParaRPr lang="en-IN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195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C7A8-129D-E602-A201-60DF704F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8EF76E15-3175-C3DE-61C0-203CBF4355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53998"/>
          </a:xfrm>
          <a:prstGeom prst="rect">
            <a:avLst/>
          </a:prstGeom>
        </p:spPr>
        <p:txBody>
          <a:bodyPr/>
          <a:lstStyle>
            <a:lvl1pPr marL="228594" marR="0" indent="-228594" algn="l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189" marR="0" indent="-228594" algn="l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09" marR="0" indent="-200020" algn="l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42" marR="0" indent="-180970" algn="l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13" marR="0" indent="-168270" algn="l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4976" indent="-233181" algn="l" defTabSz="93271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336" indent="-233181" algn="l" defTabSz="93271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695" indent="-233181" algn="l" defTabSz="93271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056" indent="-233181" algn="l" defTabSz="93271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800" b="0" i="0" u="none" strike="noStrike" kern="1200" cap="none" spc="-51" normalizeH="0" baseline="0" noProof="0">
                <a:ln w="3175">
                  <a:noFill/>
                </a:ln>
                <a:effectLst/>
                <a:uLnTx/>
                <a:uFillTx/>
                <a:latin typeface="Aptos SemiBold" panose="020B0004020202020204" pitchFamily="34" charset="0"/>
                <a:ea typeface="+mn-ea"/>
                <a:cs typeface="Segoe UI" panose="020B0502040204020203" pitchFamily="34" charset="0"/>
              </a:rPr>
              <a:t>Generative orchestration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917B51-416F-5A42-0D80-3DE7C1686EB4}"/>
              </a:ext>
            </a:extLst>
          </p:cNvPr>
          <p:cNvSpPr txBox="1"/>
          <p:nvPr/>
        </p:nvSpPr>
        <p:spPr>
          <a:xfrm>
            <a:off x="399427" y="2019586"/>
            <a:ext cx="1131660" cy="553998"/>
          </a:xfrm>
          <a:prstGeom prst="rect">
            <a:avLst/>
          </a:prstGeom>
          <a:noFill/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User utterance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7E22766-1685-64AA-26FC-3EEA2EFDC146}"/>
              </a:ext>
            </a:extLst>
          </p:cNvPr>
          <p:cNvCxnSpPr/>
          <p:nvPr/>
        </p:nvCxnSpPr>
        <p:spPr>
          <a:xfrm>
            <a:off x="1260539" y="2220434"/>
            <a:ext cx="646447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B36BA1-3E94-6EDC-F462-A58D68C3218E}"/>
              </a:ext>
            </a:extLst>
          </p:cNvPr>
          <p:cNvCxnSpPr>
            <a:cxnSpLocks/>
          </p:cNvCxnSpPr>
          <p:nvPr/>
        </p:nvCxnSpPr>
        <p:spPr>
          <a:xfrm>
            <a:off x="4605406" y="1069275"/>
            <a:ext cx="240068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E0769BF-B4D5-54A0-B15A-F0A58E346D3F}"/>
              </a:ext>
            </a:extLst>
          </p:cNvPr>
          <p:cNvSpPr/>
          <p:nvPr/>
        </p:nvSpPr>
        <p:spPr bwMode="auto">
          <a:xfrm>
            <a:off x="2100313" y="839964"/>
            <a:ext cx="2360542" cy="411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  <a:headEnd type="none" w="med" len="med"/>
            <a:tailEnd type="none" w="med" len="med"/>
          </a:ln>
          <a:effectLst>
            <a:outerShdw blurRad="50800" dist="50800" dir="240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Plan generation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2368CD1-BE6E-C938-63D1-CBF23E1AD11D}"/>
              </a:ext>
            </a:extLst>
          </p:cNvPr>
          <p:cNvCxnSpPr>
            <a:cxnSpLocks/>
          </p:cNvCxnSpPr>
          <p:nvPr/>
        </p:nvCxnSpPr>
        <p:spPr>
          <a:xfrm>
            <a:off x="3269952" y="5061096"/>
            <a:ext cx="0" cy="483781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7A4A9E8-DC17-4FDA-9CA2-6FA2A510E166}"/>
              </a:ext>
            </a:extLst>
          </p:cNvPr>
          <p:cNvSpPr/>
          <p:nvPr/>
        </p:nvSpPr>
        <p:spPr bwMode="auto">
          <a:xfrm>
            <a:off x="2100313" y="5661795"/>
            <a:ext cx="3037229" cy="91448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>
            <a:solidFill>
              <a:srgbClr val="00B0F0"/>
            </a:solidFill>
            <a:headEnd type="none" w="med" len="med"/>
            <a:tailEnd type="none" w="med" len="med"/>
          </a:ln>
          <a:effectLst>
            <a:outerShdw blurRad="50800" dist="50800" dir="132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Fallback System Topic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“Sorry, I didn’t understand that”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A70F51-6B76-A818-2E02-E4B37DEF71C2}"/>
              </a:ext>
            </a:extLst>
          </p:cNvPr>
          <p:cNvSpPr/>
          <p:nvPr/>
        </p:nvSpPr>
        <p:spPr bwMode="auto">
          <a:xfrm>
            <a:off x="2232078" y="1392858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Topic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AF02B9-7CE9-67AB-0D3E-75A6A7B3A470}"/>
              </a:ext>
            </a:extLst>
          </p:cNvPr>
          <p:cNvSpPr/>
          <p:nvPr/>
        </p:nvSpPr>
        <p:spPr bwMode="auto">
          <a:xfrm>
            <a:off x="2232078" y="1972792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Topic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55C967-82AC-63D0-2941-04E2760F252F}"/>
              </a:ext>
            </a:extLst>
          </p:cNvPr>
          <p:cNvSpPr/>
          <p:nvPr/>
        </p:nvSpPr>
        <p:spPr bwMode="auto">
          <a:xfrm>
            <a:off x="2232078" y="2552726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Tool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5D9C5E-5BA2-0F32-46F1-46A96F633A34}"/>
              </a:ext>
            </a:extLst>
          </p:cNvPr>
          <p:cNvSpPr/>
          <p:nvPr/>
        </p:nvSpPr>
        <p:spPr bwMode="auto">
          <a:xfrm>
            <a:off x="2232078" y="3132660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Tool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679633B-9A92-9295-A213-5A4D12C0E6DB}"/>
              </a:ext>
            </a:extLst>
          </p:cNvPr>
          <p:cNvSpPr/>
          <p:nvPr/>
        </p:nvSpPr>
        <p:spPr bwMode="auto">
          <a:xfrm>
            <a:off x="7208630" y="778263"/>
            <a:ext cx="2399435" cy="55289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>
            <a:outerShdw blurRad="50800" dist="50800" dir="132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Topic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CD0695-45A6-A928-F1EF-5B2B0D5DABB6}"/>
              </a:ext>
            </a:extLst>
          </p:cNvPr>
          <p:cNvSpPr txBox="1"/>
          <p:nvPr/>
        </p:nvSpPr>
        <p:spPr>
          <a:xfrm>
            <a:off x="4791688" y="1331230"/>
            <a:ext cx="2086107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One or more tools / topics / knowledge matched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A plan is generated using tools / knowledge / topics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F31DD8-0303-0792-AAF7-EC593D866B99}"/>
              </a:ext>
            </a:extLst>
          </p:cNvPr>
          <p:cNvSpPr/>
          <p:nvPr/>
        </p:nvSpPr>
        <p:spPr bwMode="auto">
          <a:xfrm>
            <a:off x="7247525" y="1627552"/>
            <a:ext cx="2360541" cy="2364974"/>
          </a:xfrm>
          <a:prstGeom prst="rect">
            <a:avLst/>
          </a:prstGeom>
          <a:solidFill>
            <a:schemeClr val="bg2"/>
          </a:solidFill>
          <a:ln>
            <a:solidFill>
              <a:srgbClr val="F4364C"/>
            </a:solidFill>
            <a:headEnd type="none" w="med" len="med"/>
            <a:tailEnd type="none" w="med" len="med"/>
          </a:ln>
          <a:effectLst>
            <a:outerShdw blurRad="50800" dist="50800" dir="132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Tool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01A067C-C02E-0D06-0969-4ABC93150F97}"/>
              </a:ext>
            </a:extLst>
          </p:cNvPr>
          <p:cNvSpPr/>
          <p:nvPr/>
        </p:nvSpPr>
        <p:spPr bwMode="auto">
          <a:xfrm>
            <a:off x="7361031" y="2084501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Slot filling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9B1862-B5C5-BEF7-A9EC-119D35A0389B}"/>
              </a:ext>
            </a:extLst>
          </p:cNvPr>
          <p:cNvSpPr/>
          <p:nvPr/>
        </p:nvSpPr>
        <p:spPr bwMode="auto">
          <a:xfrm>
            <a:off x="7361031" y="2676029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Execution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C8B9E9-2618-7BB1-61AA-82C5E6420032}"/>
              </a:ext>
            </a:extLst>
          </p:cNvPr>
          <p:cNvSpPr/>
          <p:nvPr/>
        </p:nvSpPr>
        <p:spPr bwMode="auto">
          <a:xfrm>
            <a:off x="7361031" y="3259040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Response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286D368-EE9E-AB41-B42F-D0FEC8278A1E}"/>
              </a:ext>
            </a:extLst>
          </p:cNvPr>
          <p:cNvCxnSpPr>
            <a:cxnSpLocks/>
          </p:cNvCxnSpPr>
          <p:nvPr/>
        </p:nvCxnSpPr>
        <p:spPr>
          <a:xfrm>
            <a:off x="4605406" y="3604892"/>
            <a:ext cx="240068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A282CF6-79F7-E9A3-CEF7-9C99D46088BF}"/>
              </a:ext>
            </a:extLst>
          </p:cNvPr>
          <p:cNvSpPr/>
          <p:nvPr/>
        </p:nvSpPr>
        <p:spPr bwMode="auto">
          <a:xfrm>
            <a:off x="2232078" y="3703699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Knowledge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811F67-CFF1-A455-7A74-101CFC6012F9}"/>
              </a:ext>
            </a:extLst>
          </p:cNvPr>
          <p:cNvSpPr/>
          <p:nvPr/>
        </p:nvSpPr>
        <p:spPr bwMode="auto">
          <a:xfrm>
            <a:off x="2232078" y="4283633"/>
            <a:ext cx="2115879" cy="5369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Knowledge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3D4EE93-EF11-267F-4C80-5C28B323593C}"/>
              </a:ext>
            </a:extLst>
          </p:cNvPr>
          <p:cNvCxnSpPr>
            <a:cxnSpLocks/>
          </p:cNvCxnSpPr>
          <p:nvPr/>
        </p:nvCxnSpPr>
        <p:spPr>
          <a:xfrm>
            <a:off x="4605406" y="4315668"/>
            <a:ext cx="2400689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7E79925-50F0-C7D5-58EB-C9DE5BCA2CD4}"/>
              </a:ext>
            </a:extLst>
          </p:cNvPr>
          <p:cNvSpPr/>
          <p:nvPr/>
        </p:nvSpPr>
        <p:spPr bwMode="auto">
          <a:xfrm>
            <a:off x="7247525" y="4177594"/>
            <a:ext cx="2360541" cy="2364974"/>
          </a:xfrm>
          <a:prstGeom prst="rect">
            <a:avLst/>
          </a:prstGeom>
          <a:solidFill>
            <a:schemeClr val="bg2"/>
          </a:solidFill>
          <a:ln>
            <a:solidFill>
              <a:srgbClr val="8DE971"/>
            </a:solidFill>
            <a:headEnd type="none" w="med" len="med"/>
            <a:tailEnd type="none" w="med" len="med"/>
          </a:ln>
          <a:effectLst>
            <a:outerShdw blurRad="50800" dist="50800" dir="132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Knowledge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A1DCEAC-D015-71A1-5F6F-F28E8FF3F211}"/>
              </a:ext>
            </a:extLst>
          </p:cNvPr>
          <p:cNvSpPr/>
          <p:nvPr/>
        </p:nvSpPr>
        <p:spPr bwMode="auto">
          <a:xfrm>
            <a:off x="7380849" y="4659475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Search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2E0358-B9CD-4724-3E86-67BB6E916CE8}"/>
              </a:ext>
            </a:extLst>
          </p:cNvPr>
          <p:cNvSpPr/>
          <p:nvPr/>
        </p:nvSpPr>
        <p:spPr bwMode="auto">
          <a:xfrm>
            <a:off x="7380849" y="5251034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Summarize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2A1CFA-2906-721A-C0F8-D675A1F8EFED}"/>
              </a:ext>
            </a:extLst>
          </p:cNvPr>
          <p:cNvSpPr/>
          <p:nvPr/>
        </p:nvSpPr>
        <p:spPr bwMode="auto">
          <a:xfrm>
            <a:off x="7380849" y="5842593"/>
            <a:ext cx="2115156" cy="5528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rPr>
              <a:t>Citations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32A044-5E5E-CC8D-182A-E126B4B92757}"/>
              </a:ext>
            </a:extLst>
          </p:cNvPr>
          <p:cNvSpPr/>
          <p:nvPr/>
        </p:nvSpPr>
        <p:spPr bwMode="auto">
          <a:xfrm>
            <a:off x="10154435" y="1951688"/>
            <a:ext cx="1648675" cy="321573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>
            <a:solidFill>
              <a:srgbClr val="00B0F0"/>
            </a:solidFill>
            <a:headEnd type="none" w="med" len="med"/>
            <a:tailEnd type="none" w="med" len="med"/>
          </a:ln>
          <a:effectLst>
            <a:outerShdw blurRad="50800" dist="50800" dir="132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Unified Response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 message is generated to answer a user’s question using the outputs from all tools / knowledge / topics in the plan.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90DDE5C-625D-9FE5-6B84-1A81F4F76ACE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9674868" y="3559556"/>
            <a:ext cx="479567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2D839B1B-91B8-9AF4-7337-D83D77E153A5}"/>
              </a:ext>
            </a:extLst>
          </p:cNvPr>
          <p:cNvCxnSpPr>
            <a:cxnSpLocks/>
            <a:stCxn id="45" idx="3"/>
            <a:endCxn id="59" idx="0"/>
          </p:cNvCxnSpPr>
          <p:nvPr/>
        </p:nvCxnSpPr>
        <p:spPr>
          <a:xfrm>
            <a:off x="9608065" y="1054710"/>
            <a:ext cx="1370708" cy="896978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74EFB2A-E3F7-C2F8-4E99-AB9FA4E939B9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9608065" y="5167423"/>
            <a:ext cx="1370708" cy="675169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59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D9D7-BDFC-8F11-F013-1D65E02D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36DD31-5895-D05E-6E3A-2B12DB9F3756}"/>
              </a:ext>
            </a:extLst>
          </p:cNvPr>
          <p:cNvSpPr txBox="1">
            <a:spLocks/>
          </p:cNvSpPr>
          <p:nvPr/>
        </p:nvSpPr>
        <p:spPr>
          <a:xfrm>
            <a:off x="673308" y="528939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IN" dirty="0">
                <a:latin typeface="Segoe UI" panose="020B0502040204020203" pitchFamily="34" charset="0"/>
              </a:rPr>
              <a:t>Multi-Agent Orchestration</a:t>
            </a:r>
            <a:br>
              <a:rPr lang="en-IN" dirty="0">
                <a:latin typeface="Segoe UI" panose="020B0502040204020203" pitchFamily="34" charset="0"/>
              </a:rPr>
            </a:br>
            <a:endParaRPr lang="en-IN" dirty="0"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F9D435-280A-DC3E-1B74-F0D5566D164E}"/>
              </a:ext>
            </a:extLst>
          </p:cNvPr>
          <p:cNvSpPr/>
          <p:nvPr/>
        </p:nvSpPr>
        <p:spPr>
          <a:xfrm>
            <a:off x="1396584" y="1369104"/>
            <a:ext cx="9398832" cy="1479027"/>
          </a:xfrm>
          <a:prstGeom prst="roundRect">
            <a:avLst>
              <a:gd name="adj" fmla="val 9625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85725" lvl="0" indent="0" defTabSz="914367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Copilot Studio Agents can orchestrate over child and connected agents. While child agents are fully owned by the main agent, connected agents are fully independent agents that can run standalone.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243AC8-B384-352B-3DA9-0F5287D3CBBA}"/>
              </a:ext>
            </a:extLst>
          </p:cNvPr>
          <p:cNvSpPr/>
          <p:nvPr/>
        </p:nvSpPr>
        <p:spPr>
          <a:xfrm>
            <a:off x="1396584" y="3025514"/>
            <a:ext cx="9398832" cy="1479028"/>
          </a:xfrm>
          <a:prstGeom prst="roundRect">
            <a:avLst>
              <a:gd name="adj" fmla="val 9625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85725" lvl="0" indent="0" defTabSz="914367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Child agents are ideal for modularizing logic within your main agent, while connected agents can handle more complex scenarios and can be reused by multiple main agents.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4F1E3-75A7-A78D-A445-E184746D049C}"/>
              </a:ext>
            </a:extLst>
          </p:cNvPr>
          <p:cNvSpPr/>
          <p:nvPr/>
        </p:nvSpPr>
        <p:spPr>
          <a:xfrm>
            <a:off x="1396584" y="4681925"/>
            <a:ext cx="9398832" cy="1479029"/>
          </a:xfrm>
          <a:prstGeom prst="roundRect">
            <a:avLst>
              <a:gd name="adj" fmla="val 9625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85725" lvl="0" indent="0" defTabSz="914367">
              <a:spcBef>
                <a:spcPts val="300"/>
              </a:spcBef>
              <a:buNone/>
              <a:defRPr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Multi-agent architecture helps bypass the 128 tools limit at agent level (each child-agent or connected agent can also have up to 128 tools as this is orchestrated by a second LLM call – downside: it adds latency)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03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E9E1-32C8-E194-CD88-EB47D7F6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ox 1">
            <a:extLst>
              <a:ext uri="{FF2B5EF4-FFF2-40B4-BE49-F238E27FC236}">
                <a16:creationId xmlns:a16="http://schemas.microsoft.com/office/drawing/2014/main" id="{BEA1777D-A985-96C4-FD7B-59F722916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15400" y="1463040"/>
            <a:ext cx="2691383" cy="4809172"/>
          </a:xfrm>
          <a:prstGeom prst="roundRect">
            <a:avLst>
              <a:gd name="adj" fmla="val 5331"/>
            </a:avLst>
          </a:prstGeom>
          <a:solidFill>
            <a:schemeClr val="bg2">
              <a:lumMod val="25000"/>
              <a:lumOff val="75000"/>
            </a:schemeClr>
          </a:solidFill>
          <a:ln w="12700">
            <a:solidFill>
              <a:schemeClr val="tx1">
                <a:lumMod val="95000"/>
                <a:alpha val="10000"/>
              </a:schemeClr>
            </a:solidFill>
            <a:headEnd type="none" w="med" len="med"/>
            <a:tailEnd type="none" w="med" len="med"/>
          </a:ln>
          <a:effectLst>
            <a:outerShdw blurRad="317500" dist="63500" dir="8100000" algn="tr" rotWithShape="0">
              <a:prstClr val="black">
                <a:alpha val="3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2400">
                <a:latin typeface="+mj-lt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FAB07F1-6DE6-3166-2A98-03CC80F1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6654" y="1598135"/>
            <a:ext cx="2428875" cy="828000"/>
          </a:xfrm>
          <a:prstGeom prst="roundRect">
            <a:avLst>
              <a:gd name="adj" fmla="val 6905"/>
            </a:avLst>
          </a:prstGeom>
          <a:solidFill>
            <a:schemeClr val="bg2"/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4EBB61C2-C2C3-A741-CA11-D36260199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05681" y="1735010"/>
            <a:ext cx="545022" cy="54502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8D61FA-A388-E0E2-682E-82611F7B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753586"/>
            <a:ext cx="7285737" cy="430887"/>
          </a:xfrm>
        </p:spPr>
        <p:txBody>
          <a:bodyPr vert="horz" wrap="square" lIns="1097280" tIns="0" rIns="0" bIns="0" rtlCol="0" anchor="ctr">
            <a:spAutoFit/>
          </a:bodyPr>
          <a:lstStyle/>
          <a:p>
            <a:r>
              <a:rPr lang="en-US" sz="2800"/>
              <a:t>Copilot Studio agent   </a:t>
            </a:r>
          </a:p>
        </p:txBody>
      </p:sp>
      <p:sp>
        <p:nvSpPr>
          <p:cNvPr id="83" name="box 1">
            <a:extLst>
              <a:ext uri="{FF2B5EF4-FFF2-40B4-BE49-F238E27FC236}">
                <a16:creationId xmlns:a16="http://schemas.microsoft.com/office/drawing/2014/main" id="{A1003C71-CD69-8CAD-F45F-51D464AD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8962" y="1463040"/>
            <a:ext cx="7653338" cy="4809172"/>
          </a:xfrm>
          <a:prstGeom prst="roundRect">
            <a:avLst>
              <a:gd name="adj" fmla="val 3444"/>
            </a:avLst>
          </a:prstGeom>
          <a:solidFill>
            <a:srgbClr val="091F2C"/>
          </a:solidFill>
          <a:ln w="12700">
            <a:solidFill>
              <a:schemeClr val="tx1">
                <a:lumMod val="95000"/>
                <a:alpha val="10000"/>
              </a:schemeClr>
            </a:solidFill>
            <a:headEnd type="none" w="med" len="med"/>
            <a:tailEnd type="none" w="med" len="med"/>
          </a:ln>
          <a:effectLst>
            <a:outerShdw blurRad="317500" dist="63500" dir="8100000" algn="tr" rotWithShape="0">
              <a:prstClr val="black">
                <a:alpha val="3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2400">
                <a:latin typeface="+mj-lt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E0E5932-5CCE-62D0-CF73-DB2609FC6CFE}"/>
              </a:ext>
            </a:extLst>
          </p:cNvPr>
          <p:cNvSpPr/>
          <p:nvPr/>
        </p:nvSpPr>
        <p:spPr bwMode="auto">
          <a:xfrm rot="16200000">
            <a:off x="-1205208" y="3556961"/>
            <a:ext cx="4515399" cy="621329"/>
          </a:xfrm>
          <a:prstGeom prst="roundRect">
            <a:avLst>
              <a:gd name="adj" fmla="val 7102"/>
            </a:avLst>
          </a:prstGeom>
          <a:solidFill>
            <a:schemeClr val="tx1">
              <a:alpha val="8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Orchestrator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CB1EB50-D0B5-A7D2-C014-789A6FF77378}"/>
              </a:ext>
            </a:extLst>
          </p:cNvPr>
          <p:cNvSpPr/>
          <p:nvPr/>
        </p:nvSpPr>
        <p:spPr bwMode="auto">
          <a:xfrm>
            <a:off x="3283048" y="1588618"/>
            <a:ext cx="1522513" cy="816757"/>
          </a:xfrm>
          <a:prstGeom prst="roundRect">
            <a:avLst>
              <a:gd name="adj" fmla="val 7102"/>
            </a:avLst>
          </a:prstGeom>
          <a:solidFill>
            <a:schemeClr val="accent2">
              <a:alpha val="13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System Topics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A0C967F-E052-379B-7661-27A149306C1C}"/>
              </a:ext>
            </a:extLst>
          </p:cNvPr>
          <p:cNvSpPr/>
          <p:nvPr/>
        </p:nvSpPr>
        <p:spPr bwMode="auto">
          <a:xfrm>
            <a:off x="4924986" y="1588618"/>
            <a:ext cx="1522513" cy="816757"/>
          </a:xfrm>
          <a:prstGeom prst="roundRect">
            <a:avLst>
              <a:gd name="adj" fmla="val 7102"/>
            </a:avLst>
          </a:prstGeom>
          <a:solidFill>
            <a:schemeClr val="accent2">
              <a:alpha val="13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User Topics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4C3FAA-7605-3107-DFB7-523BD9B7654E}"/>
              </a:ext>
            </a:extLst>
          </p:cNvPr>
          <p:cNvSpPr/>
          <p:nvPr/>
        </p:nvSpPr>
        <p:spPr bwMode="auto">
          <a:xfrm>
            <a:off x="1522074" y="1581902"/>
            <a:ext cx="1641549" cy="816757"/>
          </a:xfrm>
          <a:prstGeom prst="roundRect">
            <a:avLst>
              <a:gd name="adj" fmla="val 7102"/>
            </a:avLst>
          </a:prstGeom>
          <a:solidFill>
            <a:srgbClr val="1C313D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System Instructions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06A6C97-6F6A-9224-80DB-6B5F59A6B11F}"/>
              </a:ext>
            </a:extLst>
          </p:cNvPr>
          <p:cNvSpPr/>
          <p:nvPr/>
        </p:nvSpPr>
        <p:spPr bwMode="auto">
          <a:xfrm>
            <a:off x="6566924" y="1609926"/>
            <a:ext cx="1522513" cy="816757"/>
          </a:xfrm>
          <a:prstGeom prst="roundRect">
            <a:avLst>
              <a:gd name="adj" fmla="val 7102"/>
            </a:avLst>
          </a:prstGeom>
          <a:solidFill>
            <a:schemeClr val="bg2">
              <a:lumMod val="25000"/>
              <a:lumOff val="7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Child Agents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9EF9AD6-6CAD-E28C-E8F1-1C1EBC705708}"/>
              </a:ext>
            </a:extLst>
          </p:cNvPr>
          <p:cNvSpPr/>
          <p:nvPr/>
        </p:nvSpPr>
        <p:spPr bwMode="auto">
          <a:xfrm>
            <a:off x="1515970" y="2548839"/>
            <a:ext cx="2039637" cy="529168"/>
          </a:xfrm>
          <a:prstGeom prst="roundRect">
            <a:avLst>
              <a:gd name="adj" fmla="val 7102"/>
            </a:avLst>
          </a:prstGeom>
          <a:solidFill>
            <a:schemeClr val="tx1">
              <a:alpha val="8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Knowledge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78AB48A-2079-0C8E-AC2D-1EB33376B64A}"/>
              </a:ext>
            </a:extLst>
          </p:cNvPr>
          <p:cNvSpPr/>
          <p:nvPr/>
        </p:nvSpPr>
        <p:spPr bwMode="auto">
          <a:xfrm>
            <a:off x="1523769" y="3177645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Websites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D69B1AB-CBF9-DF05-099C-00C173724432}"/>
              </a:ext>
            </a:extLst>
          </p:cNvPr>
          <p:cNvSpPr/>
          <p:nvPr/>
        </p:nvSpPr>
        <p:spPr bwMode="auto">
          <a:xfrm>
            <a:off x="1523767" y="3687978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SharePoint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32BBC7A-DAA3-3C11-9D6A-ECF730B58003}"/>
              </a:ext>
            </a:extLst>
          </p:cNvPr>
          <p:cNvSpPr/>
          <p:nvPr/>
        </p:nvSpPr>
        <p:spPr bwMode="auto">
          <a:xfrm>
            <a:off x="1523767" y="4198310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OneDrive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50AF0DF-9467-043E-6217-95C2F3D610FE}"/>
              </a:ext>
            </a:extLst>
          </p:cNvPr>
          <p:cNvSpPr/>
          <p:nvPr/>
        </p:nvSpPr>
        <p:spPr bwMode="auto">
          <a:xfrm>
            <a:off x="3692050" y="2548839"/>
            <a:ext cx="4397387" cy="529168"/>
          </a:xfrm>
          <a:prstGeom prst="roundRect">
            <a:avLst>
              <a:gd name="adj" fmla="val 7102"/>
            </a:avLst>
          </a:prstGeom>
          <a:solidFill>
            <a:schemeClr val="tx1">
              <a:alpha val="8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Tools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B508263-E6B7-401A-24B6-D783D171A974}"/>
              </a:ext>
            </a:extLst>
          </p:cNvPr>
          <p:cNvSpPr/>
          <p:nvPr/>
        </p:nvSpPr>
        <p:spPr bwMode="auto">
          <a:xfrm>
            <a:off x="3692050" y="3177645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Connectors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727014C-B1BD-4140-B842-11F56AFA3595}"/>
              </a:ext>
            </a:extLst>
          </p:cNvPr>
          <p:cNvSpPr/>
          <p:nvPr/>
        </p:nvSpPr>
        <p:spPr bwMode="auto">
          <a:xfrm>
            <a:off x="5178603" y="3177645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Flows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FAD7F67-DC01-F674-93A7-5E4AC02D2EF9}"/>
              </a:ext>
            </a:extLst>
          </p:cNvPr>
          <p:cNvSpPr/>
          <p:nvPr/>
        </p:nvSpPr>
        <p:spPr bwMode="auto">
          <a:xfrm>
            <a:off x="6678317" y="3177645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Prompts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B758C225-6DC0-45E4-5E33-205962CF0A68}"/>
              </a:ext>
            </a:extLst>
          </p:cNvPr>
          <p:cNvSpPr/>
          <p:nvPr/>
        </p:nvSpPr>
        <p:spPr bwMode="auto">
          <a:xfrm>
            <a:off x="3692051" y="4690661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MCPs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3AA525B-78F7-7DDF-23F8-9402C0379D9C}"/>
              </a:ext>
            </a:extLst>
          </p:cNvPr>
          <p:cNvSpPr/>
          <p:nvPr/>
        </p:nvSpPr>
        <p:spPr bwMode="auto">
          <a:xfrm>
            <a:off x="5178603" y="4690661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Computer use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885F491-6537-38B0-9B74-197716AE8455}"/>
              </a:ext>
            </a:extLst>
          </p:cNvPr>
          <p:cNvSpPr/>
          <p:nvPr/>
        </p:nvSpPr>
        <p:spPr bwMode="auto">
          <a:xfrm>
            <a:off x="6678319" y="4690661"/>
            <a:ext cx="1411119" cy="1434665"/>
          </a:xfrm>
          <a:prstGeom prst="roundRect">
            <a:avLst>
              <a:gd name="adj" fmla="val 7102"/>
            </a:avLst>
          </a:prstGeom>
          <a:solidFill>
            <a:schemeClr val="accent3">
              <a:alpha val="5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Rest APIs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53FBC07-8579-B505-AB32-00C75C1AF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8963" y="498714"/>
            <a:ext cx="817560" cy="817560"/>
          </a:xfrm>
          <a:prstGeom prst="rect">
            <a:avLst/>
          </a:prstGeom>
        </p:spPr>
      </p:pic>
      <p:cxnSp>
        <p:nvCxnSpPr>
          <p:cNvPr id="78" name="Straight Arrow Connector 77" descr="An arrow pointing right">
            <a:extLst>
              <a:ext uri="{FF2B5EF4-FFF2-40B4-BE49-F238E27FC236}">
                <a16:creationId xmlns:a16="http://schemas.microsoft.com/office/drawing/2014/main" id="{7BCE813F-0A93-6CC5-D3E8-CEA5B7268DB8}"/>
              </a:ext>
            </a:extLst>
          </p:cNvPr>
          <p:cNvCxnSpPr/>
          <p:nvPr/>
        </p:nvCxnSpPr>
        <p:spPr>
          <a:xfrm>
            <a:off x="8367440" y="3714750"/>
            <a:ext cx="482080" cy="0"/>
          </a:xfrm>
          <a:prstGeom prst="straightConnector1">
            <a:avLst/>
          </a:prstGeom>
          <a:ln w="38100" cap="rnd" cmpd="sng" algn="ctr">
            <a:solidFill>
              <a:schemeClr val="tx1"/>
            </a:solidFill>
            <a:prstDash val="solid"/>
            <a:round/>
            <a:headEnd type="none" w="lg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Arrow Connector 78" descr="An arrow pointing left">
            <a:extLst>
              <a:ext uri="{FF2B5EF4-FFF2-40B4-BE49-F238E27FC236}">
                <a16:creationId xmlns:a16="http://schemas.microsoft.com/office/drawing/2014/main" id="{C1415497-D77E-BB74-2A85-25D3A6A21273}"/>
              </a:ext>
            </a:extLst>
          </p:cNvPr>
          <p:cNvCxnSpPr/>
          <p:nvPr/>
        </p:nvCxnSpPr>
        <p:spPr>
          <a:xfrm flipH="1">
            <a:off x="8308182" y="4020502"/>
            <a:ext cx="535600" cy="0"/>
          </a:xfrm>
          <a:prstGeom prst="straightConnector1">
            <a:avLst/>
          </a:prstGeom>
          <a:ln w="38100" cap="rnd" cmpd="sng" algn="ctr">
            <a:solidFill>
              <a:schemeClr val="tx1"/>
            </a:solidFill>
            <a:prstDash val="solid"/>
            <a:round/>
            <a:headEnd type="none" w="lg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F9C6ABA-403C-0B98-5F81-C742E6B2DB0F}"/>
              </a:ext>
            </a:extLst>
          </p:cNvPr>
          <p:cNvSpPr txBox="1"/>
          <p:nvPr/>
        </p:nvSpPr>
        <p:spPr>
          <a:xfrm>
            <a:off x="8779762" y="753586"/>
            <a:ext cx="2962658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defTabSz="932742">
              <a:lnSpc>
                <a:spcPct val="100000"/>
              </a:lnSpc>
              <a:spcBef>
                <a:spcPct val="0"/>
              </a:spcBef>
              <a:buNone/>
              <a:defRPr lang="en-US" sz="2800" b="0" cap="none" spc="-50" baseline="0" dirty="0" smtClean="0">
                <a:ln w="3175">
                  <a:noFill/>
                </a:ln>
                <a:effectLst/>
                <a:latin typeface="+mj-lt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Connected agents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7627FA-D37E-4F0C-2323-BD64D29A16FC}"/>
              </a:ext>
            </a:extLst>
          </p:cNvPr>
          <p:cNvSpPr txBox="1"/>
          <p:nvPr/>
        </p:nvSpPr>
        <p:spPr>
          <a:xfrm>
            <a:off x="9951720" y="1644504"/>
            <a:ext cx="1442985" cy="7173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 Studio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7181F4-8CDB-BA6F-254B-B23366D4FA40}"/>
              </a:ext>
            </a:extLst>
          </p:cNvPr>
          <p:cNvSpPr/>
          <p:nvPr/>
        </p:nvSpPr>
        <p:spPr bwMode="auto">
          <a:xfrm>
            <a:off x="1523767" y="4693402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Dataverse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99B3EC-5899-4C6E-A93A-CD0DE4721E30}"/>
              </a:ext>
            </a:extLst>
          </p:cNvPr>
          <p:cNvSpPr/>
          <p:nvPr/>
        </p:nvSpPr>
        <p:spPr bwMode="auto">
          <a:xfrm>
            <a:off x="1523765" y="5203735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AI Search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F1A688-EC68-5CE8-D23D-E78F976D4EF0}"/>
              </a:ext>
            </a:extLst>
          </p:cNvPr>
          <p:cNvSpPr/>
          <p:nvPr/>
        </p:nvSpPr>
        <p:spPr bwMode="auto">
          <a:xfrm>
            <a:off x="1523765" y="5714067"/>
            <a:ext cx="2039637" cy="414000"/>
          </a:xfrm>
          <a:prstGeom prst="roundRect">
            <a:avLst>
              <a:gd name="adj" fmla="val 6628"/>
            </a:avLst>
          </a:prstGeom>
          <a:solidFill>
            <a:schemeClr val="tx1">
              <a:alpha val="2000"/>
            </a:schemeClr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Custom KBs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2C36DA-51CA-FF55-E7B7-8EE3F35D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6115" y="4409962"/>
            <a:ext cx="2428875" cy="828000"/>
          </a:xfrm>
          <a:prstGeom prst="roundRect">
            <a:avLst>
              <a:gd name="adj" fmla="val 6905"/>
            </a:avLst>
          </a:prstGeom>
          <a:solidFill>
            <a:schemeClr val="bg2"/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9E53FE-2DAE-347A-3E64-4FC7685B8EFE}"/>
              </a:ext>
            </a:extLst>
          </p:cNvPr>
          <p:cNvSpPr txBox="1"/>
          <p:nvPr/>
        </p:nvSpPr>
        <p:spPr>
          <a:xfrm>
            <a:off x="9951181" y="4467135"/>
            <a:ext cx="1442985" cy="7173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Any agent via Agents SDK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564D1F-0AC3-8CD9-EEDE-F79A9FA77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6654" y="3466313"/>
            <a:ext cx="2428875" cy="828000"/>
          </a:xfrm>
          <a:prstGeom prst="roundRect">
            <a:avLst>
              <a:gd name="adj" fmla="val 6905"/>
            </a:avLst>
          </a:prstGeom>
          <a:solidFill>
            <a:schemeClr val="bg2"/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6D6A71-5FA1-0EAE-4878-23137C400036}"/>
              </a:ext>
            </a:extLst>
          </p:cNvPr>
          <p:cNvSpPr txBox="1"/>
          <p:nvPr/>
        </p:nvSpPr>
        <p:spPr>
          <a:xfrm>
            <a:off x="9951720" y="3529307"/>
            <a:ext cx="1442985" cy="7173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Foundry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83D436-659B-A882-CBF4-5D763D0AD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103" y="2532224"/>
            <a:ext cx="2428875" cy="828000"/>
          </a:xfrm>
          <a:prstGeom prst="roundRect">
            <a:avLst>
              <a:gd name="adj" fmla="val 6905"/>
            </a:avLst>
          </a:prstGeom>
          <a:solidFill>
            <a:schemeClr val="bg2"/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A3AB50-FCF1-2A5B-4E15-E406538E3D1D}"/>
              </a:ext>
            </a:extLst>
          </p:cNvPr>
          <p:cNvSpPr txBox="1"/>
          <p:nvPr/>
        </p:nvSpPr>
        <p:spPr>
          <a:xfrm>
            <a:off x="9957169" y="2587541"/>
            <a:ext cx="1442985" cy="7173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Fabric Data Agents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149828-C74A-DDEF-2DFC-E74022EF5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6654" y="5334492"/>
            <a:ext cx="2428875" cy="828000"/>
          </a:xfrm>
          <a:prstGeom prst="roundRect">
            <a:avLst>
              <a:gd name="adj" fmla="val 6905"/>
            </a:avLst>
          </a:prstGeom>
          <a:solidFill>
            <a:schemeClr val="bg2"/>
          </a:solidFill>
          <a:ln w="3175" cap="flat" cmpd="sng" algn="ctr">
            <a:solidFill>
              <a:schemeClr val="tx1">
                <a:alpha val="46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86BA04-5D2E-DEA1-DB08-596B2DF900CB}"/>
              </a:ext>
            </a:extLst>
          </p:cNvPr>
          <p:cNvSpPr txBox="1"/>
          <p:nvPr/>
        </p:nvSpPr>
        <p:spPr>
          <a:xfrm>
            <a:off x="9951720" y="5380861"/>
            <a:ext cx="1442985" cy="7173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Any other A2A Agent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6310B5A4-30D0-3D51-9F95-AA0ACA3F3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4603" y="4550912"/>
            <a:ext cx="546100" cy="5461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20E6C21-F7BD-CF35-39A5-EC116C6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53000" y="3556150"/>
            <a:ext cx="650385" cy="64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551D5CD5-5554-30CC-F60B-AFC9F9F4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6580" y="2693911"/>
            <a:ext cx="534123" cy="5341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F2C37F5-7EAE-0E0B-54A5-D5750F06115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130357" y="5376527"/>
            <a:ext cx="695670" cy="74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91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F48B-C440-5794-6EEC-1106E278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F278-6A6B-72AA-0AB9-CF59EC0B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Agents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8E51AACC-114C-416D-34F2-751AC99B5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63" y="1504843"/>
            <a:ext cx="35609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agents are </a:t>
            </a:r>
            <a:r>
              <a:rPr lang="en-US" b="1" dirty="0"/>
              <a:t>lightweight specialists</a:t>
            </a:r>
            <a:r>
              <a:rPr lang="en-US" dirty="0"/>
              <a:t>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within the parent agent, sharing its tools, knowledge, and topics — all configured from a single workspace without separate publishing.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to parent and child agents are made and tested together, making iteration faster and simpler.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931891-6B3A-6FC6-3DEA-89ED6097C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02" y="1120005"/>
            <a:ext cx="7017111" cy="48834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4617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3073-398B-1FC6-7627-C92EA05E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EB2E-7213-C043-078A-7B43C1FF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Agents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2EC6-0AEF-EBE7-DF96-2C6FA1C20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655" y="1466796"/>
            <a:ext cx="6960878" cy="3924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289C1ED-4D6B-BDE2-843D-520C1C360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67" y="1605295"/>
            <a:ext cx="39034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Connected agents are fully independent - each with their own topics, settings, and deployment lifecycle - collaborating with your main agent like separate departments on a shared project.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Connected agents must be published before another agent can use them, including during active testing. </a:t>
            </a:r>
          </a:p>
        </p:txBody>
      </p:sp>
    </p:spTree>
    <p:extLst>
      <p:ext uri="{BB962C8B-B14F-4D97-AF65-F5344CB8AC3E}">
        <p14:creationId xmlns:p14="http://schemas.microsoft.com/office/powerpoint/2010/main" val="1078582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ABB8-7F26-4BA8-54F1-45C71D536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F8E339-80D3-FFC8-F2B8-2EC777F405B6}"/>
              </a:ext>
            </a:extLst>
          </p:cNvPr>
          <p:cNvSpPr txBox="1"/>
          <p:nvPr/>
        </p:nvSpPr>
        <p:spPr>
          <a:xfrm>
            <a:off x="466155" y="1443841"/>
            <a:ext cx="53836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E39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child agents when: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have a single developer or a small, cohesive team managing the entire agent solution.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want to logically group tools, instructions, or knowledge into clearly defined child-agents within a larger agent.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do not need separate configuration settings.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do not intend to publish these agents separately or make them available independently to end users.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4BA27-DAA5-32FE-24B2-8100F7A8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should I use?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514CD-CCA9-EF4D-6860-FEC9F3EC6CEE}"/>
              </a:ext>
            </a:extLst>
          </p:cNvPr>
          <p:cNvSpPr txBox="1"/>
          <p:nvPr/>
        </p:nvSpPr>
        <p:spPr>
          <a:xfrm>
            <a:off x="6426356" y="1513221"/>
            <a:ext cx="5180427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E39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connected agents when: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Multiple teams or developers manage different agents independently.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need to publish and maintain agents separately, making them available directly to end users on independent channels.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must have their own dedicated settings, including authentication configurations.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need independent Application Lifecycle Management (ALM) processes for each agent.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CD664-8820-5819-8132-108C53DAFF91}"/>
              </a:ext>
            </a:extLst>
          </p:cNvPr>
          <p:cNvSpPr txBox="1"/>
          <p:nvPr/>
        </p:nvSpPr>
        <p:spPr>
          <a:xfrm>
            <a:off x="525686" y="6031593"/>
            <a:ext cx="11140628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Note: multi-agent architecture helps bypass the 128 tools limit at agent level (each child-agent or connected agent can also have up to 128 tools as this is orchestrated by a second LLM call – downside: it adds latency)</a:t>
            </a:r>
          </a:p>
        </p:txBody>
      </p:sp>
    </p:spTree>
    <p:extLst>
      <p:ext uri="{BB962C8B-B14F-4D97-AF65-F5344CB8AC3E}">
        <p14:creationId xmlns:p14="http://schemas.microsoft.com/office/powerpoint/2010/main" val="793305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8577-C899-7517-F559-70B19A2E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CCB5-5AD2-9F7F-A5B0-3DD77DCB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Patterns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BDD5FB-694C-D20F-1F65-32F1B54A4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139"/>
          <a:stretch>
            <a:fillRect/>
          </a:stretch>
        </p:blipFill>
        <p:spPr>
          <a:xfrm>
            <a:off x="3702938" y="1137075"/>
            <a:ext cx="5572584" cy="16200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0C5CF3-7239-3FED-0650-A01177C59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05"/>
          <a:stretch>
            <a:fillRect/>
          </a:stretch>
        </p:blipFill>
        <p:spPr>
          <a:xfrm>
            <a:off x="3702938" y="4570132"/>
            <a:ext cx="5572584" cy="20627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B78C8A-2DB6-0552-25B6-830F1142A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4" b="40652"/>
          <a:stretch>
            <a:fillRect/>
          </a:stretch>
        </p:blipFill>
        <p:spPr>
          <a:xfrm>
            <a:off x="3702938" y="2918225"/>
            <a:ext cx="5572584" cy="14763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2898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0EB9-9AF0-C381-60EC-8BEC4B17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2750695"/>
            <a:ext cx="11018520" cy="1107996"/>
          </a:xfrm>
        </p:spPr>
        <p:txBody>
          <a:bodyPr/>
          <a:lstStyle/>
          <a:p>
            <a:r>
              <a:rPr lang="en-US" sz="7200" dirty="0"/>
              <a:t>DEMO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058658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_Microsoft Build 16:9 Template Dark">
  <a:themeElements>
    <a:clrScheme name="Custom 18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D59ED7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.potx" id="{95798F38-FE5D-46E0-AD75-C33CA43DE62E}" vid="{86E23E4B-DDC2-4BC1-BCF9-8333DD483F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762</Words>
  <Application>Microsoft Office PowerPoint</Application>
  <PresentationFormat>Widescreen</PresentationFormat>
  <Paragraphs>127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SemiBold</vt:lpstr>
      <vt:lpstr>Arial</vt:lpstr>
      <vt:lpstr>Segoe UI</vt:lpstr>
      <vt:lpstr>Segoe UI Semibold</vt:lpstr>
      <vt:lpstr>Wingdings</vt:lpstr>
      <vt:lpstr>3_Microsoft Build 16:9 Template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Copilot Studio agent   </vt:lpstr>
      <vt:lpstr>Child Agents</vt:lpstr>
      <vt:lpstr>Connected Agents</vt:lpstr>
      <vt:lpstr>Which should I use?</vt:lpstr>
      <vt:lpstr>Multi-Agent Patterns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Angara (IND)</dc:creator>
  <cp:lastModifiedBy>Sandeep Angara (IND)</cp:lastModifiedBy>
  <cp:revision>1</cp:revision>
  <dcterms:created xsi:type="dcterms:W3CDTF">2026-02-11T15:22:23Z</dcterms:created>
  <dcterms:modified xsi:type="dcterms:W3CDTF">2026-04-21T04:09:35Z</dcterms:modified>
</cp:coreProperties>
</file>